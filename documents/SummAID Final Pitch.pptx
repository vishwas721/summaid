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60" r:id="rId3"/>
    <p:sldId id="265" r:id="rId4"/>
    <p:sldId id="273" r:id="rId5"/>
    <p:sldId id="264" r:id="rId6"/>
    <p:sldId id="268" r:id="rId7"/>
    <p:sldId id="270" r:id="rId8"/>
    <p:sldId id="261" r:id="rId9"/>
    <p:sldId id="267" r:id="rId10"/>
    <p:sldId id="272" r:id="rId11"/>
    <p:sldId id="262" r:id="rId12"/>
    <p:sldId id="266" r:id="rId13"/>
    <p:sldId id="263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EEF"/>
    <a:srgbClr val="193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794416-8DCC-B6B8-5084-763D15C61A8C}" v="125" dt="2025-10-09T03:29:25.0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>
        <p:scale>
          <a:sx n="50" d="100"/>
          <a:sy n="50" d="100"/>
        </p:scale>
        <p:origin x="451" y="85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4B91B6-A299-49AD-9EEB-7F0D874E7463}" type="datetimeFigureOut">
              <a:rPr lang="en-IN" smtClean="0"/>
              <a:t>11-12-2025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A1971D-D651-4BF9-A2C5-68392E7850E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879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4063DF40-A8A3-4DA3-BD7C-9127AEC766AF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22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292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CAB86D0-B768-4562-89BC-E8787C2A9960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462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23D7F70-3C44-4A10-B402-237D081EF686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895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C37DAC8-FAEE-4EBF-9802-8F4C1CDBA594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883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24F67EE-8DD9-4074-B7FD-52ECB918F0F9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741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flipV="1">
            <a:off x="0" y="-237847"/>
            <a:ext cx="9144000" cy="426650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6A4F2C6-3A16-428D-8890-8CD81BD7772C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1C45B1E-3714-436F-A336-26E1E49CD898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6511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ABE1673-0D0B-4441-9CB1-B21E39A3144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002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214C546-1FC5-4073-85DF-A5463AB3A4FE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7076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58E50A4-9416-4E34-AD0E-4D28205B3AB8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1736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AF098787-47D2-48A9-9C71-66F5A7452A9A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17689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117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pic" sz="half" idx="13"/>
          </p:nvPr>
        </p:nvSpPr>
        <p:spPr>
          <a:xfrm>
            <a:off x="4723805" y="446484"/>
            <a:ext cx="3750469" cy="5786438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Shape 39"/>
          <p:cNvSpPr>
            <a:spLocks noGrp="1"/>
          </p:cNvSpPr>
          <p:nvPr>
            <p:ph type="title"/>
          </p:nvPr>
        </p:nvSpPr>
        <p:spPr>
          <a:xfrm>
            <a:off x="669727" y="446484"/>
            <a:ext cx="3750469" cy="2803922"/>
          </a:xfrm>
          <a:prstGeom prst="rect">
            <a:avLst/>
          </a:prstGeom>
        </p:spPr>
        <p:txBody>
          <a:bodyPr anchor="b"/>
          <a:lstStyle>
            <a:lvl1pPr>
              <a:defRPr sz="3164"/>
            </a:lvl1pPr>
          </a:lstStyle>
          <a:p>
            <a:r>
              <a:t>Title Text</a:t>
            </a:r>
          </a:p>
        </p:txBody>
      </p:sp>
      <p:sp>
        <p:nvSpPr>
          <p:cNvPr id="40" name="Shape 40"/>
          <p:cNvSpPr>
            <a:spLocks noGrp="1"/>
          </p:cNvSpPr>
          <p:nvPr>
            <p:ph type="body" sz="quarter" idx="1"/>
          </p:nvPr>
        </p:nvSpPr>
        <p:spPr>
          <a:xfrm>
            <a:off x="669727" y="3348634"/>
            <a:ext cx="3750469" cy="288428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1688"/>
            </a:lvl1pPr>
            <a:lvl2pPr marL="0" indent="120547" algn="ctr">
              <a:spcBef>
                <a:spcPts val="0"/>
              </a:spcBef>
              <a:buSzTx/>
              <a:buNone/>
              <a:defRPr sz="1688"/>
            </a:lvl2pPr>
            <a:lvl3pPr marL="0" indent="241093" algn="ctr">
              <a:spcBef>
                <a:spcPts val="0"/>
              </a:spcBef>
              <a:buSzTx/>
              <a:buNone/>
              <a:defRPr sz="1688"/>
            </a:lvl3pPr>
            <a:lvl4pPr marL="0" indent="361640" algn="ctr">
              <a:spcBef>
                <a:spcPts val="0"/>
              </a:spcBef>
              <a:buSzTx/>
              <a:buNone/>
              <a:defRPr sz="1688"/>
            </a:lvl4pPr>
            <a:lvl5pPr marL="0" indent="482186" algn="ctr">
              <a:spcBef>
                <a:spcPts val="0"/>
              </a:spcBef>
              <a:buSzTx/>
              <a:buNone/>
              <a:defRPr sz="1688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4717593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35"/>
          <p:cNvSpPr txBox="1">
            <a:spLocks noGrp="1"/>
          </p:cNvSpPr>
          <p:nvPr>
            <p:ph type="title"/>
          </p:nvPr>
        </p:nvSpPr>
        <p:spPr>
          <a:xfrm>
            <a:off x="311701" y="842402"/>
            <a:ext cx="2807999" cy="1007599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>
              <a:spcBef>
                <a:spcPts val="0"/>
              </a:spcBef>
              <a:buSzPct val="100000"/>
              <a:defRPr sz="1800"/>
            </a:lvl1pPr>
            <a:lvl2pPr lvl="1">
              <a:spcBef>
                <a:spcPts val="0"/>
              </a:spcBef>
              <a:buSzPct val="100000"/>
              <a:defRPr sz="1800"/>
            </a:lvl2pPr>
            <a:lvl3pPr lvl="2">
              <a:spcBef>
                <a:spcPts val="0"/>
              </a:spcBef>
              <a:buSzPct val="100000"/>
              <a:defRPr sz="1800"/>
            </a:lvl3pPr>
            <a:lvl4pPr lvl="3">
              <a:spcBef>
                <a:spcPts val="0"/>
              </a:spcBef>
              <a:buSzPct val="100000"/>
              <a:defRPr sz="1800"/>
            </a:lvl4pPr>
            <a:lvl5pPr lvl="4">
              <a:spcBef>
                <a:spcPts val="0"/>
              </a:spcBef>
              <a:buSzPct val="100000"/>
              <a:defRPr sz="1800"/>
            </a:lvl5pPr>
            <a:lvl6pPr lvl="5">
              <a:spcBef>
                <a:spcPts val="0"/>
              </a:spcBef>
              <a:buSzPct val="100000"/>
              <a:defRPr sz="1800"/>
            </a:lvl6pPr>
            <a:lvl7pPr lvl="6">
              <a:spcBef>
                <a:spcPts val="0"/>
              </a:spcBef>
              <a:buSzPct val="100000"/>
              <a:defRPr sz="1800"/>
            </a:lvl7pPr>
            <a:lvl8pPr lvl="7">
              <a:spcBef>
                <a:spcPts val="0"/>
              </a:spcBef>
              <a:buSzPct val="100000"/>
              <a:defRPr sz="1800"/>
            </a:lvl8pPr>
            <a:lvl9pPr lvl="8">
              <a:spcBef>
                <a:spcPts val="0"/>
              </a:spcBef>
              <a:buSzPct val="100000"/>
              <a:defRPr sz="1800"/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body" idx="1"/>
          </p:nvPr>
        </p:nvSpPr>
        <p:spPr>
          <a:xfrm>
            <a:off x="311701" y="2157604"/>
            <a:ext cx="2807999" cy="39344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defRPr sz="900"/>
            </a:lvl1pPr>
            <a:lvl2pPr lvl="1">
              <a:spcBef>
                <a:spcPts val="0"/>
              </a:spcBef>
              <a:buSzPct val="100000"/>
              <a:defRPr sz="900"/>
            </a:lvl2pPr>
            <a:lvl3pPr lvl="2">
              <a:spcBef>
                <a:spcPts val="0"/>
              </a:spcBef>
              <a:buSzPct val="100000"/>
              <a:defRPr sz="900"/>
            </a:lvl3pPr>
            <a:lvl4pPr lvl="3">
              <a:spcBef>
                <a:spcPts val="0"/>
              </a:spcBef>
              <a:buSzPct val="100000"/>
              <a:defRPr sz="900"/>
            </a:lvl4pPr>
            <a:lvl5pPr lvl="4">
              <a:spcBef>
                <a:spcPts val="0"/>
              </a:spcBef>
              <a:buSzPct val="100000"/>
              <a:defRPr sz="900"/>
            </a:lvl5pPr>
            <a:lvl6pPr lvl="5">
              <a:spcBef>
                <a:spcPts val="0"/>
              </a:spcBef>
              <a:buSzPct val="100000"/>
              <a:defRPr sz="900"/>
            </a:lvl6pPr>
            <a:lvl7pPr lvl="6">
              <a:spcBef>
                <a:spcPts val="0"/>
              </a:spcBef>
              <a:buSzPct val="100000"/>
              <a:defRPr sz="900"/>
            </a:lvl7pPr>
            <a:lvl8pPr lvl="7">
              <a:spcBef>
                <a:spcPts val="0"/>
              </a:spcBef>
              <a:buSzPct val="100000"/>
              <a:defRPr sz="900"/>
            </a:lvl8pPr>
            <a:lvl9pPr lvl="8">
              <a:spcBef>
                <a:spcPts val="0"/>
              </a:spcBef>
              <a:buSzPct val="100000"/>
              <a:defRPr sz="900"/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sldNum" idx="12"/>
          </p:nvPr>
        </p:nvSpPr>
        <p:spPr>
          <a:xfrm>
            <a:off x="8472458" y="6217621"/>
            <a:ext cx="548699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prstClr val="white"/>
                </a:solidFill>
              </a:rPr>
              <a:pPr/>
              <a:t>‹#›</a:t>
            </a:fld>
            <a:endParaRPr lang="en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633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7" y="351211"/>
            <a:ext cx="8382000" cy="553998"/>
          </a:xfrm>
          <a:prstGeom prst="rect">
            <a:avLst/>
          </a:prstGeom>
        </p:spPr>
        <p:txBody>
          <a:bodyPr/>
          <a:lstStyle>
            <a:lvl1pPr>
              <a:defRPr sz="30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1" y="1411553"/>
            <a:ext cx="8382000" cy="2210862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020015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675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021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>
            <a:spLocks noGrp="1"/>
          </p:cNvSpPr>
          <p:nvPr>
            <p:ph type="title"/>
          </p:nvPr>
        </p:nvSpPr>
        <p:spPr>
          <a:xfrm>
            <a:off x="669727" y="312540"/>
            <a:ext cx="7804547" cy="151804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hape 49"/>
          <p:cNvSpPr>
            <a:spLocks noGrp="1"/>
          </p:cNvSpPr>
          <p:nvPr>
            <p:ph type="sldNum" sz="quarter" idx="2"/>
          </p:nvPr>
        </p:nvSpPr>
        <p:spPr>
          <a:xfrm>
            <a:off x="4437983" y="6505278"/>
            <a:ext cx="259105" cy="26789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68422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3429002"/>
            <a:ext cx="9144000" cy="3428999"/>
          </a:xfrm>
          <a:prstGeom prst="rect">
            <a:avLst/>
          </a:prstGeom>
          <a:solidFill>
            <a:srgbClr val="5853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0" y="2"/>
            <a:ext cx="9144000" cy="3428999"/>
          </a:xfrm>
          <a:prstGeom prst="rect">
            <a:avLst/>
          </a:prstGeom>
          <a:solidFill>
            <a:srgbClr val="ADB2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44616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1" y="0"/>
            <a:ext cx="7043208" cy="152349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405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6" y="4344989"/>
            <a:ext cx="7043208" cy="46166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3428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2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9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722050" y="2355850"/>
            <a:ext cx="7690114" cy="1384994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7499" b="1" i="1" u="none" strike="noStrike" kern="1200" cap="none" spc="-48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226403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"/>
            <a:ext cx="7886700" cy="8128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767" y="11752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308113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314325" y="365126"/>
            <a:ext cx="222388" cy="244475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1" y="6492876"/>
            <a:ext cx="9144000" cy="3651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 flipV="1">
            <a:off x="626821" y="584452"/>
            <a:ext cx="8517179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-1" y="6590108"/>
            <a:ext cx="9144001" cy="267893"/>
          </a:xfrm>
          <a:prstGeom prst="rect">
            <a:avLst/>
          </a:prstGeom>
          <a:solidFill>
            <a:srgbClr val="193B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24074" y="6492875"/>
            <a:ext cx="2894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pPr defTabSz="342900"/>
            <a:fld id="{01C45B1E-3714-436F-A336-26E1E49CD898}" type="slidenum">
              <a:rPr lang="en-US" smtClean="0">
                <a:solidFill>
                  <a:prstClr val="white"/>
                </a:solidFill>
              </a:rPr>
              <a:pPr defTabSz="342900"/>
              <a:t>‹#›</a:t>
            </a:fld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159027" y="616918"/>
            <a:ext cx="155299" cy="21031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93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0070C0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367" y="1986409"/>
            <a:ext cx="8817995" cy="1442591"/>
          </a:xfrm>
        </p:spPr>
        <p:txBody>
          <a:bodyPr>
            <a:noAutofit/>
          </a:bodyPr>
          <a:lstStyle/>
          <a:p>
            <a:r>
              <a:rPr lang="en-IN" sz="4000" dirty="0" err="1">
                <a:latin typeface="Algerian" panose="04020705040A02060702" pitchFamily="82" charset="0"/>
              </a:rPr>
              <a:t>summ</a:t>
            </a:r>
            <a:r>
              <a:rPr lang="en-IN" sz="4000" b="1" dirty="0" err="1">
                <a:latin typeface="Algerian" panose="04020705040A02060702" pitchFamily="82" charset="0"/>
              </a:rPr>
              <a:t>AId</a:t>
            </a:r>
            <a:br>
              <a:rPr lang="en-IN" sz="4000" b="1" dirty="0">
                <a:latin typeface="Algerian" panose="04020705040A02060702" pitchFamily="82" charset="0"/>
              </a:rPr>
            </a:br>
            <a:br>
              <a:rPr lang="en-IN" sz="4000" dirty="0"/>
            </a:br>
            <a:r>
              <a:rPr lang="en-IN" sz="4000" dirty="0"/>
              <a:t> </a:t>
            </a:r>
            <a:r>
              <a:rPr lang="en-IN" sz="4000" b="1" dirty="0">
                <a:latin typeface="Algerian" panose="04020705040A02060702" pitchFamily="82" charset="0"/>
              </a:rPr>
              <a:t>Clinical Intelligence Platform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229E0-6491-B2EB-59CD-6366CA69F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99" y="995660"/>
            <a:ext cx="8403202" cy="4866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963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290" y="-76465"/>
            <a:ext cx="9475470" cy="812849"/>
          </a:xfrm>
        </p:spPr>
        <p:txBody>
          <a:bodyPr>
            <a:normAutofit/>
          </a:bodyPr>
          <a:lstStyle/>
          <a:p>
            <a:r>
              <a:rPr lang="en-IN" dirty="0"/>
              <a:t>Team Size, Background, Strength /Capability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767" y="1253331"/>
            <a:ext cx="3664753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Product Team</a:t>
            </a:r>
            <a:br>
              <a:rPr lang="en-US" b="1" u="sng" dirty="0"/>
            </a:br>
            <a:br>
              <a:rPr lang="en-US" b="1" u="sng" dirty="0"/>
            </a:br>
            <a:r>
              <a:rPr lang="en-US" dirty="0"/>
              <a:t>Tharun M: Product Lead</a:t>
            </a:r>
            <a:br>
              <a:rPr lang="en-US" dirty="0"/>
            </a:br>
            <a:r>
              <a:rPr lang="en-US" dirty="0"/>
              <a:t>Nitish Kumar: Co- Lead</a:t>
            </a:r>
            <a:br>
              <a:rPr lang="en-US" dirty="0"/>
            </a:br>
            <a:r>
              <a:rPr lang="en-US" dirty="0"/>
              <a:t>Y Vikas: Product Marketer</a:t>
            </a:r>
            <a:br>
              <a:rPr lang="en-US" dirty="0"/>
            </a:br>
            <a:r>
              <a:rPr lang="en-US" dirty="0" err="1"/>
              <a:t>Chandravesh</a:t>
            </a:r>
            <a:r>
              <a:rPr lang="en-US" dirty="0"/>
              <a:t>: Product Designer</a:t>
            </a:r>
            <a:br>
              <a:rPr lang="en-US" dirty="0"/>
            </a:br>
            <a:br>
              <a:rPr lang="en-US" dirty="0"/>
            </a:br>
            <a:r>
              <a:rPr lang="en-US" b="1" u="sng" dirty="0"/>
              <a:t>Development Team</a:t>
            </a:r>
            <a:br>
              <a:rPr lang="en-US" b="1" u="sng" dirty="0"/>
            </a:br>
            <a:br>
              <a:rPr lang="en-US" b="1" u="sng" dirty="0"/>
            </a:br>
            <a:r>
              <a:rPr lang="en-US" dirty="0"/>
              <a:t>Vishwas K: Development Lead</a:t>
            </a:r>
            <a:br>
              <a:rPr lang="en-US" dirty="0"/>
            </a:br>
            <a:r>
              <a:rPr lang="en-US" dirty="0" err="1"/>
              <a:t>Nachiketha</a:t>
            </a:r>
            <a:r>
              <a:rPr lang="en-US" dirty="0"/>
              <a:t>: Backend Developer</a:t>
            </a:r>
            <a:br>
              <a:rPr lang="en-US" dirty="0"/>
            </a:br>
            <a:r>
              <a:rPr lang="en-US" dirty="0"/>
              <a:t>Vignesh B G: Frontend  Developer</a:t>
            </a:r>
            <a:endParaRPr lang="en-US" b="1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E76E8-54C3-C071-54A7-812AF1E1B6EB}"/>
              </a:ext>
            </a:extLst>
          </p:cNvPr>
          <p:cNvSpPr txBox="1"/>
          <p:nvPr/>
        </p:nvSpPr>
        <p:spPr>
          <a:xfrm>
            <a:off x="622767" y="684292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TEAM MEMBERS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A5957E-8ED9-9278-DEDE-10F275AE0909}"/>
              </a:ext>
            </a:extLst>
          </p:cNvPr>
          <p:cNvSpPr txBox="1"/>
          <p:nvPr/>
        </p:nvSpPr>
        <p:spPr>
          <a:xfrm>
            <a:off x="4287520" y="2179851"/>
            <a:ext cx="3505200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u="sng" dirty="0"/>
              <a:t>Test Team</a:t>
            </a:r>
            <a:br>
              <a:rPr lang="en-IN" sz="2100" b="1" u="sng" dirty="0"/>
            </a:br>
            <a:br>
              <a:rPr lang="en-IN" sz="2100" b="1" u="sng" dirty="0"/>
            </a:br>
            <a:r>
              <a:rPr lang="en-IN" sz="2100" dirty="0"/>
              <a:t>Yashwanth Gowda: Test Lead</a:t>
            </a:r>
            <a:br>
              <a:rPr lang="en-IN" sz="2100" dirty="0"/>
            </a:br>
            <a:r>
              <a:rPr lang="en-IN" sz="2100" dirty="0"/>
              <a:t>Vinod Kumar: Manual Tester</a:t>
            </a:r>
            <a:br>
              <a:rPr lang="en-IN" sz="2100" dirty="0"/>
            </a:br>
            <a:r>
              <a:rPr lang="en-IN" sz="2100" dirty="0"/>
              <a:t>Venkat B: Performance Tester</a:t>
            </a:r>
            <a:endParaRPr lang="en-IN" sz="2100" b="1" u="sng" dirty="0"/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Statement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5C49AFC-827F-32C8-7CB4-F385D9CEA662}"/>
              </a:ext>
            </a:extLst>
          </p:cNvPr>
          <p:cNvSpPr txBox="1"/>
          <p:nvPr/>
        </p:nvSpPr>
        <p:spPr>
          <a:xfrm>
            <a:off x="339892" y="812851"/>
            <a:ext cx="532509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Arial Rounded MT Bold" panose="020F0704030504030204" pitchFamily="34" charset="0"/>
              </a:rPr>
              <a:t>Clinicians (Doctors, MAs) face significant information overload from fragmented patient data scattered across lengthy EMR reports (Radiology, Pathology, Labs, Notes).  </a:t>
            </a:r>
          </a:p>
          <a:p>
            <a:pPr algn="just"/>
            <a:r>
              <a:rPr lang="en-US" sz="1600" dirty="0">
                <a:latin typeface="Arial Rounded MT Bold" panose="020F0704030504030204" pitchFamily="34" charset="0"/>
              </a:rPr>
              <a:t> </a:t>
            </a:r>
          </a:p>
          <a:p>
            <a:pPr algn="just"/>
            <a:endParaRPr lang="en-US" sz="16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600" dirty="0"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Arial Rounded MT Bold" panose="020F0704030504030204" pitchFamily="34" charset="0"/>
              </a:rPr>
              <a:t>Manually reviewing and synthesizing this data before each patient visit is time-consuming, increases cognitive load, contributes to burnout, and carries a risk of missing critical details, potentially impacting patient safety.</a:t>
            </a:r>
            <a:br>
              <a:rPr lang="en-US" sz="1600" dirty="0">
                <a:latin typeface="Arial Rounded MT Bold" panose="020F0704030504030204" pitchFamily="34" charset="0"/>
              </a:rPr>
            </a:br>
            <a:br>
              <a:rPr lang="en-US" sz="1600" dirty="0">
                <a:latin typeface="Arial Rounded MT Bold" panose="020F0704030504030204" pitchFamily="34" charset="0"/>
              </a:rPr>
            </a:br>
            <a:r>
              <a:rPr lang="en-US" sz="16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Arial Rounded MT Bold" panose="020F0704030504030204" pitchFamily="34" charset="0"/>
              </a:rPr>
              <a:t>Fragmented Longitudinal Data: Doctors struggle to track </a:t>
            </a:r>
            <a:r>
              <a:rPr lang="en-US" sz="1600" i="1" dirty="0">
                <a:latin typeface="Arial Rounded MT Bold" panose="020F0704030504030204" pitchFamily="34" charset="0"/>
              </a:rPr>
              <a:t>evolution</a:t>
            </a:r>
            <a:r>
              <a:rPr lang="en-US" sz="1600" dirty="0">
                <a:latin typeface="Arial Rounded MT Bold" panose="020F0704030504030204" pitchFamily="34" charset="0"/>
              </a:rPr>
              <a:t> (e.g., tumor growth or hearing loss trends) across years of PDF reports.</a:t>
            </a:r>
          </a:p>
          <a:p>
            <a:pPr algn="just"/>
            <a:r>
              <a:rPr lang="en-US" sz="1600" dirty="0">
                <a:latin typeface="Arial Rounded MT Bold" panose="020F0704030504030204" pitchFamily="34" charset="0"/>
              </a:rPr>
              <a:t> </a:t>
            </a:r>
          </a:p>
          <a:p>
            <a:pPr algn="just"/>
            <a:endParaRPr lang="en-US" sz="1600" dirty="0">
              <a:latin typeface="Arial Rounded MT Bold" panose="020F0704030504030204" pitchFamily="34" charset="0"/>
            </a:endParaRPr>
          </a:p>
          <a:p>
            <a:pPr algn="just"/>
            <a:r>
              <a:rPr lang="en-US" sz="1600" dirty="0">
                <a:latin typeface="Arial Rounded MT Bold" panose="020F0704030504030204" pitchFamily="34" charset="0"/>
              </a:rPr>
              <a:t> </a:t>
            </a:r>
            <a:r>
              <a:rPr lang="en-US" sz="1600" dirty="0">
                <a:latin typeface="Arial Rounded MT Bold" panose="020F0704030504030204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latin typeface="Arial Rounded MT Bold" panose="020F0704030504030204" pitchFamily="34" charset="0"/>
              </a:rPr>
              <a:t>One Size Doesn't Fit All: A generic AI summary fails because Oncologists need tumor timelines, while Audiologists need frequency charts</a:t>
            </a:r>
            <a:endParaRPr lang="en-IN" sz="1600" dirty="0">
              <a:latin typeface="Arial Rounded MT Bold" panose="020F0704030504030204" pitchFamily="34" charset="0"/>
            </a:endParaRPr>
          </a:p>
          <a:p>
            <a:pPr algn="just"/>
            <a:endParaRPr lang="en-IN" sz="1600" dirty="0">
              <a:latin typeface="Arial Rounded MT Bold" panose="020F07040305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381072-8758-BF4A-85D6-9F43D81693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270" y="1840832"/>
            <a:ext cx="3248809" cy="3248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443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D548E-8255-6EAE-1BAA-BE8BBED00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26609-0372-27C4-4551-7EB4805A6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Product/ Solution - Innovation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16158D-6F3E-8860-34B5-A180425EFE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3853" y="1271989"/>
            <a:ext cx="4346797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&gt;Secure AI Assistant: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Runs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on-premise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within the hospital's firewall for maximum data privacy.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&gt;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Core + Modules Architecture":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A universal secure engine that plugs in specialty-specific brains.</a:t>
            </a:r>
            <a:br>
              <a:rPr lang="en-US" sz="1600" dirty="0"/>
            </a:b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&gt;Intelligent Context Retrieval: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Uses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AI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to find the most relevant history for upcoming visits.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&gt;Concise Pre-Visit Summaries: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A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local LLM 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synthesizes multi-modal data into actionable, easy-to-read summaries.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6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&gt;"Glass Box" Verifiability: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Every statement links directly back to its source in the original report, building clinical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2E6DB-F492-E50C-A663-07A208B88075}"/>
              </a:ext>
            </a:extLst>
          </p:cNvPr>
          <p:cNvSpPr txBox="1"/>
          <p:nvPr/>
        </p:nvSpPr>
        <p:spPr>
          <a:xfrm>
            <a:off x="353853" y="733380"/>
            <a:ext cx="29508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>
                <a:latin typeface="Arial Rounded MT Bold" panose="020F0704030504030204" pitchFamily="34" charset="0"/>
              </a:rPr>
              <a:t>What it is &amp; How it Works</a:t>
            </a:r>
            <a:endParaRPr lang="en-US" altLang="en-US" b="1" u="sng" dirty="0">
              <a:latin typeface="Arial Rounded MT Bold" panose="020F0704030504030204" pitchFamily="34" charset="0"/>
            </a:endParaRP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87584F-33AE-1F40-9FFD-7C9C574AA5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0650" y="1844040"/>
            <a:ext cx="4355254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969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Unique Selling Point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BBB6D-7A0F-D91F-768C-F104C68DB915}"/>
              </a:ext>
            </a:extLst>
          </p:cNvPr>
          <p:cNvSpPr txBox="1"/>
          <p:nvPr/>
        </p:nvSpPr>
        <p:spPr>
          <a:xfrm>
            <a:off x="4963997" y="733380"/>
            <a:ext cx="2003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u="sng" dirty="0">
                <a:latin typeface="Arial Rounded MT Bold" panose="020F0704030504030204" pitchFamily="34" charset="0"/>
              </a:rPr>
              <a:t>Why it's Unique</a:t>
            </a:r>
          </a:p>
          <a:p>
            <a:endParaRPr lang="en-IN" b="1" u="sng" dirty="0">
              <a:latin typeface="Arial Rounded MT Bold" panose="020F0704030504030204" pitchFamily="34" charset="0"/>
            </a:endParaRPr>
          </a:p>
          <a:p>
            <a:endParaRPr lang="en-IN" b="1" u="sng" dirty="0">
              <a:latin typeface="Arial Rounded MT Bold" panose="020F070403050403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AB2DDE9-05D3-A52E-FD11-6027E21CE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3997" y="1210434"/>
            <a:ext cx="4094922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Fortress Architecture":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100% On-Premise (No Cloud APIs). Privacy by Design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&gt;True Multi-Modal Synthesis: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Goes beyond basic summarization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findings across different reports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(Radiology, Pathology, Labs, Notes) and time points.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&gt;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Verifiable Citations: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Our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"Glass Box" approach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provides direct links to source documents, guaranteeing accuracy and fostering clinician trust.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Beyond Text":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dirty="0" err="1">
                <a:latin typeface="Arial" panose="020B0604020202020204" pitchFamily="34" charset="0"/>
                <a:cs typeface="Arial" panose="020B0604020202020204" pitchFamily="34" charset="0"/>
              </a:rPr>
              <a:t>SummAID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doesn't just summarize; it visualizes.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294A690-B458-BE53-6716-B49020C12D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" y="1815003"/>
            <a:ext cx="4792956" cy="26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301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176C7-2146-B9DD-66CE-CCBE6ECF6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D4DED-436D-7FCF-82C7-E5D65D8EF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90" y="-76465"/>
            <a:ext cx="9475470" cy="812849"/>
          </a:xfrm>
        </p:spPr>
        <p:txBody>
          <a:bodyPr>
            <a:normAutofit/>
          </a:bodyPr>
          <a:lstStyle/>
          <a:p>
            <a:r>
              <a:rPr lang="en-IN" dirty="0"/>
              <a:t>                          TECH STACK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9856B5-73B0-4658-012A-687D4D1A00EB}"/>
              </a:ext>
            </a:extLst>
          </p:cNvPr>
          <p:cNvSpPr txBox="1"/>
          <p:nvPr/>
        </p:nvSpPr>
        <p:spPr>
          <a:xfrm>
            <a:off x="670560" y="1541983"/>
            <a:ext cx="790956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PostgreSQL (Robust relational DB).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Extensions: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r>
              <a:rPr lang="en-US" altLang="en-US" sz="2400" dirty="0" err="1">
                <a:latin typeface="Arial" panose="020B0604020202020204" pitchFamily="34" charset="0"/>
              </a:rPr>
              <a:t>pgcrypto</a:t>
            </a:r>
            <a:r>
              <a:rPr lang="en-US" altLang="en-US" sz="2400" dirty="0">
                <a:latin typeface="Arial" panose="020B0604020202020204" pitchFamily="34" charset="0"/>
              </a:rPr>
              <a:t> and </a:t>
            </a:r>
            <a:r>
              <a:rPr lang="en-US" altLang="en-US" sz="2400" dirty="0" err="1">
                <a:latin typeface="Arial" panose="020B0604020202020204" pitchFamily="34" charset="0"/>
              </a:rPr>
              <a:t>pgvector</a:t>
            </a:r>
            <a:r>
              <a:rPr lang="en-US" altLang="en-US" sz="2400" dirty="0">
                <a:latin typeface="Arial" panose="020B0604020202020204" pitchFamily="34" charset="0"/>
              </a:rPr>
              <a:t> </a:t>
            </a:r>
            <a:br>
              <a:rPr lang="en-US" altLang="en-US" sz="2400" dirty="0"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Engine: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Ollama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(Ensures on-premise processing).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Orchestration: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LangChain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React with Vite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Docker containers</a:t>
            </a:r>
            <a:br>
              <a:rPr lang="en-US" altLang="en-US" sz="2400" dirty="0">
                <a:latin typeface="Arial" panose="020B0604020202020204" pitchFamily="34" charset="0"/>
              </a:rPr>
            </a:b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PDF Parsing: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PyMuPDF</a:t>
            </a:r>
            <a:endParaRPr lang="en-IN" sz="2400" dirty="0"/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A165FBAD-BACC-B392-55BB-7BE8A0773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" y="909106"/>
            <a:ext cx="638556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with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050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EF261-0784-F12B-F493-94BF283F0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83BA1-574A-3638-E624-71B5F7B73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A918D9-6CB1-ECA1-24CC-19DD0BF97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15" y="673165"/>
            <a:ext cx="8174736" cy="5819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2515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Market Landscape - Market Potential, Competitors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B120A-3DF5-1C53-8198-0E25B2C9775C}"/>
              </a:ext>
            </a:extLst>
          </p:cNvPr>
          <p:cNvSpPr txBox="1"/>
          <p:nvPr/>
        </p:nvSpPr>
        <p:spPr>
          <a:xfrm>
            <a:off x="369736" y="595515"/>
            <a:ext cx="8404528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Arial Rounded MT Bold" panose="020F0704030504030204" pitchFamily="34" charset="0"/>
              </a:rPr>
              <a:t>Market Opportunity</a:t>
            </a:r>
            <a:endParaRPr lang="en-IN" u="sng" dirty="0">
              <a:latin typeface="Arial Rounded MT Bold" panose="020F0704030504030204" pitchFamily="34" charset="0"/>
            </a:endParaRPr>
          </a:p>
          <a:p>
            <a:r>
              <a:rPr lang="en-IN" b="1" dirty="0"/>
              <a:t>&gt;Vast &amp; Growing:</a:t>
            </a:r>
            <a:r>
              <a:rPr lang="en-IN" dirty="0"/>
              <a:t> Global Healthcare AI market is projected to reach several lakhs by 2027 , with significant investment in clinical workflow automation.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&gt;Target Customers:</a:t>
            </a:r>
            <a:r>
              <a:rPr lang="en-IN" dirty="0"/>
              <a:t> Hundreds of large hospitals/clinics in India facing EMR challenges.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u="sng" dirty="0">
                <a:latin typeface="Arial Rounded MT Bold" panose="020F0704030504030204" pitchFamily="34" charset="0"/>
              </a:rPr>
              <a:t>Competitors</a:t>
            </a:r>
            <a:endParaRPr lang="en-IN" b="1" dirty="0">
              <a:latin typeface="Arial Rounded MT Bold" panose="020F0704030504030204" pitchFamily="34" charset="0"/>
            </a:endParaRPr>
          </a:p>
          <a:p>
            <a:r>
              <a:rPr lang="en-IN" b="1" dirty="0"/>
              <a:t>&gt;EMR :</a:t>
            </a:r>
            <a:r>
              <a:rPr lang="en-IN" dirty="0"/>
              <a:t> Basic summarization (limited, not cross-modal).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&gt;Cloud AI Scribes:</a:t>
            </a:r>
            <a:r>
              <a:rPr lang="en-IN" dirty="0"/>
              <a:t> Cloud-based, different focus.</a:t>
            </a:r>
          </a:p>
          <a:p>
            <a:endParaRPr lang="en-IN" dirty="0"/>
          </a:p>
          <a:p>
            <a:r>
              <a:rPr lang="en-IN" b="1" dirty="0"/>
              <a:t>&gt;Specialized AI Startups:</a:t>
            </a:r>
            <a:r>
              <a:rPr lang="en-IN" dirty="0"/>
              <a:t> Often cloud, may lack synthesis/verifiability.</a:t>
            </a:r>
          </a:p>
          <a:p>
            <a:endParaRPr lang="en-IN" dirty="0"/>
          </a:p>
          <a:p>
            <a:endParaRPr lang="en-IN" dirty="0"/>
          </a:p>
          <a:p>
            <a:r>
              <a:rPr lang="en-IN" b="1" u="sng" dirty="0">
                <a:latin typeface="Arial Rounded MT Bold" panose="020F0704030504030204" pitchFamily="34" charset="0"/>
              </a:rPr>
              <a:t>Our Uniqueness</a:t>
            </a:r>
          </a:p>
          <a:p>
            <a:r>
              <a:rPr lang="en-IN" b="1" dirty="0"/>
              <a:t>&gt;On-Premise Security:</a:t>
            </a:r>
            <a:r>
              <a:rPr lang="en-IN" dirty="0"/>
              <a:t> </a:t>
            </a:r>
            <a:r>
              <a:rPr lang="en-IN" dirty="0" err="1"/>
              <a:t>Unrivaled</a:t>
            </a:r>
            <a:r>
              <a:rPr lang="en-IN" dirty="0"/>
              <a:t> data privacy &amp; compliance.</a:t>
            </a:r>
          </a:p>
          <a:p>
            <a:endParaRPr lang="en-IN" dirty="0"/>
          </a:p>
          <a:p>
            <a:r>
              <a:rPr lang="en-IN" b="1" dirty="0"/>
              <a:t>&gt;True Synthesis:</a:t>
            </a:r>
            <a:r>
              <a:rPr lang="en-IN" dirty="0"/>
              <a:t> Deeper, cross-report clinical insights.</a:t>
            </a:r>
          </a:p>
          <a:p>
            <a:endParaRPr lang="en-IN" dirty="0"/>
          </a:p>
          <a:p>
            <a:r>
              <a:rPr lang="en-IN" b="1" dirty="0"/>
              <a:t>&gt;"Glass Box" Verifiability:</a:t>
            </a:r>
            <a:r>
              <a:rPr lang="en-IN" dirty="0"/>
              <a:t> Builds essential clinical trust.</a:t>
            </a: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3C6EF-64B4-08C4-84D4-478FA30AA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OUR CLIENT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6E979-217C-66B6-8D30-BFEB40652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4F0217-0113-0873-52EE-6849B8CA4D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05" y="812850"/>
            <a:ext cx="2557557" cy="2940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7B7043-C88A-A2C7-0CD9-2DEDB17A7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456" y="820109"/>
            <a:ext cx="2942898" cy="29407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78C8D1B-9E90-6E9E-ADEE-0FB8D9435C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649" y="812849"/>
            <a:ext cx="3031746" cy="294071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EE3BAF-51E2-00F1-E8A6-988D2215E89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4586" y="3827038"/>
            <a:ext cx="4327809" cy="24638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93DE805-AA03-8CFE-9545-8BEB09BA70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05" y="3827037"/>
            <a:ext cx="4380395" cy="246387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5CB182-8567-F225-09D3-7551DA53584E}"/>
              </a:ext>
            </a:extLst>
          </p:cNvPr>
          <p:cNvSpPr/>
          <p:nvPr/>
        </p:nvSpPr>
        <p:spPr>
          <a:xfrm>
            <a:off x="1730070" y="3529545"/>
            <a:ext cx="912411" cy="159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Sparsh</a:t>
            </a:r>
            <a:r>
              <a:rPr lang="en-IN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63B9D6-9271-08EC-8B0E-9D3117F298F1}"/>
              </a:ext>
            </a:extLst>
          </p:cNvPr>
          <p:cNvSpPr/>
          <p:nvPr/>
        </p:nvSpPr>
        <p:spPr>
          <a:xfrm>
            <a:off x="4572000" y="3535037"/>
            <a:ext cx="1176129" cy="1568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/>
              <a:t>DR.COSAH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B110509-78E0-B3E1-412F-7CC18FE8D3F5}"/>
              </a:ext>
            </a:extLst>
          </p:cNvPr>
          <p:cNvSpPr/>
          <p:nvPr/>
        </p:nvSpPr>
        <p:spPr>
          <a:xfrm>
            <a:off x="7903597" y="3535037"/>
            <a:ext cx="965215" cy="1540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Vallance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2FDA77-3A25-187B-30EA-54261576ED54}"/>
              </a:ext>
            </a:extLst>
          </p:cNvPr>
          <p:cNvSpPr/>
          <p:nvPr/>
        </p:nvSpPr>
        <p:spPr>
          <a:xfrm>
            <a:off x="3628592" y="6059827"/>
            <a:ext cx="912411" cy="159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APEX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B0B9E0-D065-C620-098E-532A803A129F}"/>
              </a:ext>
            </a:extLst>
          </p:cNvPr>
          <p:cNvSpPr/>
          <p:nvPr/>
        </p:nvSpPr>
        <p:spPr>
          <a:xfrm>
            <a:off x="7956401" y="6055385"/>
            <a:ext cx="912411" cy="15957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REVA </a:t>
            </a:r>
          </a:p>
        </p:txBody>
      </p:sp>
    </p:spTree>
    <p:extLst>
      <p:ext uri="{BB962C8B-B14F-4D97-AF65-F5344CB8AC3E}">
        <p14:creationId xmlns:p14="http://schemas.microsoft.com/office/powerpoint/2010/main" val="551892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2604B-271B-010D-9AB8-2B5A293F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USER STORIES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25AF3-453D-4A76-7C06-7613E16D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83275-53D7-4CC9-0E34-D4C20813134E}"/>
              </a:ext>
            </a:extLst>
          </p:cNvPr>
          <p:cNvSpPr txBox="1"/>
          <p:nvPr/>
        </p:nvSpPr>
        <p:spPr>
          <a:xfrm>
            <a:off x="584867" y="1306627"/>
            <a:ext cx="797426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The "CISO" / Chairman Story (Security)</a:t>
            </a:r>
            <a:endParaRPr lang="en-US" dirty="0"/>
          </a:p>
          <a:p>
            <a:r>
              <a:rPr lang="en-US" b="1" dirty="0"/>
              <a:t>PAIN:</a:t>
            </a:r>
            <a:r>
              <a:rPr lang="en-US" dirty="0"/>
              <a:t> "I can't approve new AI tools that send patient data to the cloud. It's a security and privacy nightmare."</a:t>
            </a:r>
          </a:p>
          <a:p>
            <a:r>
              <a:rPr lang="en-US" b="1" dirty="0"/>
              <a:t>OUR SOLUTION:</a:t>
            </a:r>
            <a:r>
              <a:rPr lang="en-US" dirty="0"/>
              <a:t> A </a:t>
            </a:r>
            <a:r>
              <a:rPr lang="en-US" b="1" dirty="0"/>
              <a:t>100% On-Premise "Fortress Model"</a:t>
            </a:r>
            <a:r>
              <a:rPr lang="en-US" dirty="0"/>
              <a:t>. All data and AI processing stay inside the hospital's firewall.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2. The "Skeptical Doctor" Story (Trust)</a:t>
            </a:r>
            <a:endParaRPr lang="en-US" dirty="0"/>
          </a:p>
          <a:p>
            <a:r>
              <a:rPr lang="en-US" b="1" dirty="0"/>
              <a:t>PAIN:</a:t>
            </a:r>
            <a:r>
              <a:rPr lang="en-US" dirty="0"/>
              <a:t> "I don't trust a 'black box' AI. What if it's wrong? I need to verify its claims."</a:t>
            </a:r>
          </a:p>
          <a:p>
            <a:r>
              <a:rPr lang="en-US" b="1" dirty="0"/>
              <a:t>OUR SOLUTION:</a:t>
            </a:r>
            <a:r>
              <a:rPr lang="en-US" dirty="0"/>
              <a:t> The </a:t>
            </a:r>
            <a:r>
              <a:rPr lang="en-US" b="1" dirty="0"/>
              <a:t>"Glass Box" Verifiable Summary</a:t>
            </a:r>
            <a:r>
              <a:rPr lang="en-US" dirty="0"/>
              <a:t>. Every single sentence links directly to the original source document.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The "Pilot Partner" Story (Validation)</a:t>
            </a:r>
            <a:endParaRPr lang="en-US" dirty="0"/>
          </a:p>
          <a:p>
            <a:r>
              <a:rPr lang="en-US" b="1" dirty="0"/>
              <a:t>PAIN:</a:t>
            </a:r>
            <a:r>
              <a:rPr lang="en-US" dirty="0"/>
              <a:t> "We </a:t>
            </a:r>
            <a:r>
              <a:rPr lang="en-US" i="1" dirty="0"/>
              <a:t>want</a:t>
            </a:r>
            <a:r>
              <a:rPr lang="en-US" dirty="0"/>
              <a:t> to innovate, but we can't find partners who take data safety as seriously as we do."</a:t>
            </a:r>
          </a:p>
          <a:p>
            <a:r>
              <a:rPr lang="en-US" b="1" dirty="0"/>
              <a:t>OUR SOLUTION:</a:t>
            </a:r>
            <a:r>
              <a:rPr lang="en-US" dirty="0"/>
              <a:t> Our </a:t>
            </a:r>
            <a:r>
              <a:rPr lang="en-US" b="1" dirty="0"/>
              <a:t>Security-First Approach</a:t>
            </a:r>
            <a:r>
              <a:rPr lang="en-US" dirty="0"/>
              <a:t> is our biggest advantage. This has already validated our strategy and opened the door for future pilot programs.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8111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Business Model &amp; Strategy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7A638-5DA8-9E85-7379-551525A22A54}"/>
              </a:ext>
            </a:extLst>
          </p:cNvPr>
          <p:cNvSpPr txBox="1"/>
          <p:nvPr/>
        </p:nvSpPr>
        <p:spPr>
          <a:xfrm>
            <a:off x="159522" y="812851"/>
            <a:ext cx="496906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solidFill>
                  <a:srgbClr val="1B1C1D"/>
                </a:solidFill>
                <a:latin typeface="Arial Rounded MT Bold" panose="020F0704030504030204" pitchFamily="34" charset="0"/>
              </a:rPr>
              <a:t>Revenue Model (Future Commercialization)</a:t>
            </a:r>
            <a:endParaRPr lang="en-US" altLang="en-US" sz="1500" u="sng" dirty="0">
              <a:solidFill>
                <a:srgbClr val="1B1C1D"/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B1C1D"/>
                </a:solidFill>
                <a:latin typeface="Google Sans Text"/>
              </a:rPr>
              <a:t>&gt;Primary:</a:t>
            </a: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 B2B Annual Subscription License (per hospital/clinic) Tiered pricing (hospital size/usage).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B1C1D"/>
                </a:solidFill>
                <a:latin typeface="Google Sans Text"/>
              </a:rPr>
              <a:t>&gt;Future:</a:t>
            </a: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 Add-on modules (analytics), Value-Based Pricing (ROI).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B1C1D"/>
                </a:solidFill>
                <a:latin typeface="Google Sans Text"/>
              </a:rPr>
              <a:t>&gt;NOT:</a:t>
            </a: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 Pay-per-use, Freemium.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1B1C1D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b="1" dirty="0">
              <a:solidFill>
                <a:srgbClr val="1B1C1D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solidFill>
                  <a:srgbClr val="1B1C1D"/>
                </a:solidFill>
                <a:latin typeface="Arial Rounded MT Bold" panose="020F0704030504030204" pitchFamily="34" charset="0"/>
              </a:rPr>
              <a:t>Business Model</a:t>
            </a:r>
            <a:endParaRPr lang="en-US" altLang="en-US" u="sng" dirty="0">
              <a:solidFill>
                <a:srgbClr val="1B1C1D"/>
              </a:solidFill>
              <a:latin typeface="Arial Rounded MT Bold" panose="020F07040305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B1C1D"/>
                </a:solidFill>
                <a:latin typeface="Google Sans Text"/>
              </a:rPr>
              <a:t>&gt;Channel:</a:t>
            </a: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 Direct Sales (B2B) to Hospital Leadership (CIOs, CMIOs).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b="1" dirty="0">
                <a:solidFill>
                  <a:srgbClr val="1B1C1D"/>
                </a:solidFill>
                <a:latin typeface="Google Sans Text"/>
              </a:rPr>
              <a:t>&gt;Strategy:</a:t>
            </a: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 Pilot Program (1-2 hospitals) for validation, case studies, and product refinement before broader rollout.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1B1C1D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solidFill>
                <a:srgbClr val="1B1C1D"/>
              </a:solidFill>
              <a:latin typeface="Google Sans Tex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u="sng" dirty="0">
                <a:solidFill>
                  <a:srgbClr val="1B1C1D"/>
                </a:solidFill>
                <a:latin typeface="Arial Rounded MT Bold" panose="020F0704030504030204" pitchFamily="34" charset="0"/>
              </a:rPr>
              <a:t>Player Relationships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500" dirty="0">
                <a:solidFill>
                  <a:srgbClr val="1B1C1D"/>
                </a:solidFill>
                <a:latin typeface="Google Sans Text"/>
              </a:rPr>
              <a:t>&gt;Hospital buys license; employees (MAs, Doctors) use software. Simple, direct.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500" dirty="0">
              <a:latin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14E2786-73EA-FB75-2EBE-5358789C92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7912" y="1238637"/>
            <a:ext cx="3936566" cy="438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Product Milestones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5B1E-3714-436F-A336-26E1E49CD898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9B792-2FD0-ADBA-D4FF-6DBF110FAD04}"/>
              </a:ext>
            </a:extLst>
          </p:cNvPr>
          <p:cNvSpPr txBox="1"/>
          <p:nvPr/>
        </p:nvSpPr>
        <p:spPr>
          <a:xfrm>
            <a:off x="316062" y="661528"/>
            <a:ext cx="819928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Arial Rounded MT Bold" panose="020F0704030504030204" pitchFamily="34" charset="0"/>
              </a:rPr>
              <a:t>1.</a:t>
            </a:r>
            <a:r>
              <a:rPr lang="en-IN" b="1" u="sng" dirty="0">
                <a:latin typeface="Arial Rounded MT Bold" panose="020F0704030504030204" pitchFamily="34" charset="0"/>
              </a:rPr>
              <a:t>MVP (Minimal Viable Product) </a:t>
            </a:r>
            <a:br>
              <a:rPr lang="en-IN" b="1" u="sng" dirty="0">
                <a:latin typeface="Arial Rounded MT Bold" panose="020F0704030504030204" pitchFamily="34" charset="0"/>
              </a:rPr>
            </a:br>
            <a:endParaRPr lang="en-IN" b="1" u="sng" dirty="0">
              <a:latin typeface="Arial Rounded MT Bold" panose="020F0704030504030204" pitchFamily="34" charset="0"/>
            </a:endParaRPr>
          </a:p>
          <a:p>
            <a:r>
              <a:rPr lang="en-IN" b="1" dirty="0"/>
              <a:t>Deliverable:</a:t>
            </a:r>
            <a:r>
              <a:rPr lang="en-IN" dirty="0"/>
              <a:t> Functional "Canned Demo" (100% local on laptop).</a:t>
            </a:r>
          </a:p>
          <a:p>
            <a:r>
              <a:rPr lang="en-IN" b="1" dirty="0"/>
              <a:t>Key Features: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PDF extraction &amp; secure storage (PostgreSQL/</a:t>
            </a:r>
            <a:r>
              <a:rPr lang="en-IN" dirty="0" err="1"/>
              <a:t>pgcrypto</a:t>
            </a:r>
            <a:r>
              <a:rPr lang="en-IN" dirty="0"/>
              <a:t>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AI search (</a:t>
            </a:r>
            <a:r>
              <a:rPr lang="en-IN" dirty="0" err="1"/>
              <a:t>pgvector</a:t>
            </a:r>
            <a:r>
              <a:rPr lang="en-IN" dirty="0"/>
              <a:t>) &amp; local LLM synthesis (</a:t>
            </a:r>
            <a:r>
              <a:rPr lang="en-IN" dirty="0" err="1"/>
              <a:t>Ollama</a:t>
            </a:r>
            <a:r>
              <a:rPr lang="en-IN" dirty="0"/>
              <a:t>/Llama 3).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"Glass Box" summary</a:t>
            </a:r>
            <a:r>
              <a:rPr lang="en-IN" dirty="0"/>
              <a:t> with clickable citations in a React UI.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Multi-Specialty Support:</a:t>
            </a:r>
            <a:r>
              <a:rPr lang="en-US" dirty="0"/>
              <a:t> Oncology &amp; Audiology modules active.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Advanced Visuals:</a:t>
            </a:r>
            <a:r>
              <a:rPr lang="en-US" dirty="0"/>
              <a:t> Automated Tumor Graphing &amp; Audiogram plotting.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Workflow Tools:</a:t>
            </a:r>
            <a:r>
              <a:rPr lang="en-US" dirty="0"/>
              <a:t> Integrated Chatbot, Digital Rx Writer, and Doctor Annotations.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Performance:</a:t>
            </a:r>
            <a:r>
              <a:rPr lang="en-US" dirty="0"/>
              <a:t> Parallel Processing (Chain of Prompts)</a:t>
            </a:r>
            <a:endParaRPr lang="en-IN" dirty="0"/>
          </a:p>
          <a:p>
            <a:r>
              <a:rPr lang="en-IN" b="1" dirty="0"/>
              <a:t>Goal:</a:t>
            </a:r>
            <a:r>
              <a:rPr lang="en-IN" dirty="0"/>
              <a:t> Prove technical feasibility &amp; showcase core concept/unique features.</a:t>
            </a:r>
          </a:p>
          <a:p>
            <a:endParaRPr lang="en-IN" dirty="0"/>
          </a:p>
          <a:p>
            <a:r>
              <a:rPr lang="en-IN" b="1" dirty="0">
                <a:latin typeface="Arial Rounded MT Bold" panose="020F0704030504030204" pitchFamily="34" charset="0"/>
              </a:rPr>
              <a:t>2.</a:t>
            </a:r>
            <a:r>
              <a:rPr lang="en-IN" b="1" u="sng" dirty="0">
                <a:latin typeface="Arial Rounded MT Bold" panose="020F0704030504030204" pitchFamily="34" charset="0"/>
              </a:rPr>
              <a:t>Final Product </a:t>
            </a:r>
            <a:br>
              <a:rPr lang="en-IN" b="1" u="sng" dirty="0">
                <a:latin typeface="Arial Rounded MT Bold" panose="020F0704030504030204" pitchFamily="34" charset="0"/>
              </a:rPr>
            </a:br>
            <a:endParaRPr lang="en-IN" b="1" u="sng" dirty="0">
              <a:latin typeface="Arial Rounded MT Bold" panose="020F0704030504030204" pitchFamily="34" charset="0"/>
            </a:endParaRPr>
          </a:p>
          <a:p>
            <a:r>
              <a:rPr lang="en-IN" b="1" dirty="0"/>
              <a:t>Deliverable:</a:t>
            </a:r>
            <a:r>
              <a:rPr lang="en-IN" dirty="0"/>
              <a:t> Enhanced demo integrated with a test EMR (via FHIR adapter).</a:t>
            </a:r>
          </a:p>
          <a:p>
            <a:r>
              <a:rPr lang="en-IN" b="1" dirty="0"/>
              <a:t>Key Features:</a:t>
            </a:r>
            <a:endParaRPr lang="en-I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Pulls live (anonymized) patient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Refined multi-modal synthesis &amp; MA workflow elements.</a:t>
            </a:r>
          </a:p>
          <a:p>
            <a:r>
              <a:rPr lang="en-IN" b="1" dirty="0"/>
              <a:t>Goal:</a:t>
            </a:r>
            <a:r>
              <a:rPr lang="en-IN" dirty="0"/>
              <a:t> Show readiness for a real-world hospital pilot study.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36003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/>
              <a:t>Total Budget, Required Support and Regulation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9270C0-2D87-6F19-F4FB-D8182404FE13}"/>
              </a:ext>
            </a:extLst>
          </p:cNvPr>
          <p:cNvSpPr txBox="1"/>
          <p:nvPr/>
        </p:nvSpPr>
        <p:spPr>
          <a:xfrm>
            <a:off x="469126" y="1224501"/>
            <a:ext cx="844428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Total Budget</a:t>
            </a: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&gt;Current (MVP/SEE): ₹0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(Open-source, student effort, existing hardware).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&gt;Future: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Minor costs (₹&lt;5,000) for API testing needed before pilot. Future commercialization requires significant investment (salaries, infrastructure, sales, compliance).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Required Support</a:t>
            </a: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&gt;Now: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Mentorship &amp; Clinician Feedback.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&gt;For Pilot: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Pilot Partner Hospital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(for infrastructure, EMR access, staff support).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&gt;Guidance: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Legal/Compliance expertise.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u="sng" dirty="0">
                <a:latin typeface="Arial" panose="020B0604020202020204" pitchFamily="34" charset="0"/>
                <a:cs typeface="Arial" panose="020B0604020202020204" pitchFamily="34" charset="0"/>
              </a:rPr>
              <a:t>Regulation &amp; Compliance</a:t>
            </a:r>
            <a:endParaRPr lang="en-IN" u="sng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&gt;Data Privacy: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DPDPA / HIPAA compliant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by design (on-premise data residency).</a:t>
            </a:r>
          </a:p>
          <a:p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&gt;Medical Device: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Clinical Decision Support tool (not diagnostic). Clinician-controlled.</a:t>
            </a: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26481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A6372-9B71-47D5-A95A-D5DEA0F7C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8AD89-713D-1FED-4D66-66298C061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616151"/>
            <a:ext cx="7886700" cy="812849"/>
          </a:xfrm>
        </p:spPr>
        <p:txBody>
          <a:bodyPr>
            <a:normAutofit/>
          </a:bodyPr>
          <a:lstStyle/>
          <a:p>
            <a:pPr algn="ctr"/>
            <a:r>
              <a:rPr lang="en-IN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E8457-DE1A-4261-E2B9-B41F752E36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392310"/>
            <a:ext cx="8107680" cy="574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503311"/>
      </p:ext>
    </p:extLst>
  </p:cSld>
  <p:clrMapOvr>
    <a:masterClrMapping/>
  </p:clrMapOvr>
</p:sld>
</file>

<file path=ppt/theme/theme1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</TotalTime>
  <Words>1177</Words>
  <Application>Microsoft Office PowerPoint</Application>
  <PresentationFormat>On-screen Show (4:3)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Algerian</vt:lpstr>
      <vt:lpstr>Arial</vt:lpstr>
      <vt:lpstr>Arial Rounded MT Bold</vt:lpstr>
      <vt:lpstr>Calibri</vt:lpstr>
      <vt:lpstr>Google Sans Text</vt:lpstr>
      <vt:lpstr>5_Office Theme</vt:lpstr>
      <vt:lpstr>summAId   Clinical Intelligence Platform</vt:lpstr>
      <vt:lpstr>Team Size, Background, Strength /Capability </vt:lpstr>
      <vt:lpstr>Problem Statement</vt:lpstr>
      <vt:lpstr>Product/ Solution - Innovation</vt:lpstr>
      <vt:lpstr>Unique Selling Point</vt:lpstr>
      <vt:lpstr>                          TECH STACK</vt:lpstr>
      <vt:lpstr>WORKFLOW</vt:lpstr>
      <vt:lpstr>Market Landscape - Market Potential, Competitors</vt:lpstr>
      <vt:lpstr>OUR CLIENT </vt:lpstr>
      <vt:lpstr>USER STORIES</vt:lpstr>
      <vt:lpstr>Business Model &amp; Strategy</vt:lpstr>
      <vt:lpstr>Product Milestones</vt:lpstr>
      <vt:lpstr>Total Budget, Required Support and Regulation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template of PPT -  Application for Pitching</dc:title>
  <dc:creator>Admin</dc:creator>
  <cp:lastModifiedBy>Vishwas K</cp:lastModifiedBy>
  <cp:revision>9</cp:revision>
  <dcterms:created xsi:type="dcterms:W3CDTF">2017-07-03T16:53:36Z</dcterms:created>
  <dcterms:modified xsi:type="dcterms:W3CDTF">2025-12-11T15:40:36Z</dcterms:modified>
</cp:coreProperties>
</file>